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service 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5D0A5"/>
              </a:solidFill>
              <a:effectLst/>
            </c:spPr>
          </c:dPt>
          <c:dPt>
            <c:idx val="1"/>
            <c:bubble3D val="0"/>
            <c:spPr>
              <a:solidFill>
                <a:srgbClr val="7C6BFF"/>
              </a:solidFill>
              <a:effectLst/>
            </c:spPr>
          </c:dPt>
          <c:dPt>
            <c:idx val="2"/>
            <c:bubble3D val="0"/>
            <c:spPr>
              <a:solidFill>
                <a:srgbClr val="F5B84C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SEO / Content</c:v>
                </c:pt>
                <c:pt idx="1">
                  <c:v>Paid Media</c:v>
                </c:pt>
                <c:pt idx="2">
                  <c:v>RevOps</c:v>
                </c:pt>
                <c:pt idx="3">
                  <c:v>Creative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40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5F7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35D0A5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117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Month 18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(Slate)</c:v>
                </c:pt>
              </c:strCache>
            </c:strRef>
          </c:tx>
          <c:spPr>
            <a:solidFill>
              <a:srgbClr val="7C6BFF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117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Month 18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</c:v>
                </c:pt>
                <c:pt idx="1">
                  <c:v>3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D1117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5F7F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5F7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category, not the companies. We are one company with a services engine and a software product — already $6M, profitable, real 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bet — it's a business. Profitable, retained, marquee B2B logos, mostly US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AI-in-marketing argument is over. The gap now is a system that owns outcomes, not another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to carry out of the room: one base, two motions, software margins on a services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DNA, two price points. Credits get them in; services scale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flagship lines (Paid, SEO) plus two fast-scaling lines. Margins already strong and expanding as AI lowers content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94% monthly NRR, 15-month tenure, real expansion. Retention curve rises with account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out there is an assistant. Slate is a colleague — it does the work unasked, for a team, and remembers what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 AI-search first, then expand function by function on the same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beat that justifies the premium multiple — the two are not additive, they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sell into a market, we trigger into it — a visibility gap is the wedge that opens both motions.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double to $12M; product goes from ~$0.6M to $3M. Then product accelerates and services becomes the stable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36→50% question answered: product mix + AI agents doing delivery labor + operating leverage on a lean, high-utilization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marketers who picked up AI, not engineers who picked up marketing — operators who know exactly where this work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is on the table, said plainly. Secondary = staying power, not exit. Close with a data-room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852160" cy="5852160"/>
          </a:xfrm>
          <a:prstGeom prst="ellipse">
            <a:avLst/>
          </a:prstGeom>
          <a:solidFill>
            <a:srgbClr val="5B4BD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35D0A5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INVESTOR BRIEF ·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AI-led GTM company.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company, two motions — a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engine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product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turning strategy into pipeline for B2B tech.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48920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$6M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589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46704" y="470916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46704" y="48920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250+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3346704" y="54589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served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470916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053328" y="48920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$150M+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54589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managed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59952" y="470916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59952" y="48920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~94%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8759952" y="54589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NRR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profitable GTM engine, already at scale.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 who ran growth inside the best tech companies in the world.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in market, we are a GTM Operating System delivered as a service — senior operators and proprietary AI workflows in one system.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793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 ·  CleverTap  ·  Glean  ·  Zuora  ·  Payoneer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ByteDance  ·  SentinelOne  ·  Ixigo  ·  Plivo  ·  Atlan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874520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89320" y="2002536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250+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2639873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served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0536" y="1874520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06256" y="2002536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$150M+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70264" y="2639873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ad spend managed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3310128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89320" y="3438144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60+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4075481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on the team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3310128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06256" y="3438144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~$6M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4075481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4745736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89320" y="4873752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40%+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5511089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0536" y="4745736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06256" y="4873752"/>
            <a:ext cx="25877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&lt;10%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970264" y="5511089"/>
            <a:ext cx="24597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over 4 years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CMO got the same impossible math.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</a:t>
            </a:r>
            <a:pPr indent="0" marL="0">
              <a:buNone/>
            </a:pPr>
            <a:r>
              <a:rPr lang="en-US" sz="2200" b="1" dirty="0">
                <a:solidFill>
                  <a:srgbClr val="F5B8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10×</a:t>
            </a:r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more — with a smaller team.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68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marketing team is 40% smaller than in 2025.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moved from headcount to tooling — and has not moved back.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deck now has an AI-efficiency slide.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1228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old models both break.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0" y="2770632"/>
            <a:ext cx="146304" cy="146304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agencies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arbitrage. No leverage, no defensibility, margin capped by headcount.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3849624"/>
            <a:ext cx="146304" cy="146304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0" y="3730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SaaS tools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0507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margins, but they own no outcome — adoption stalls, value is unproven.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4928616"/>
            <a:ext cx="146304" cy="146304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48097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12978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outcome and the software doing the work. That is what we are building.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Services-market scale.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Software-margin economics.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services capture a market the size of services, at margins that trend toward software — run as one company, two motions, off one customer base.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BASE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tech · $5M–$200M ARR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4663440"/>
            <a:ext cx="914400" cy="-320040"/>
          </a:xfrm>
          <a:prstGeom prst="line">
            <a:avLst/>
          </a:prstGeom>
          <a:noFill/>
          <a:ln w="31750">
            <a:solidFill>
              <a:srgbClr val="35D0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5074920"/>
            <a:ext cx="914400" cy="320040"/>
          </a:xfrm>
          <a:prstGeom prst="line">
            <a:avLst/>
          </a:prstGeom>
          <a:noFill/>
          <a:ln w="31750">
            <a:solidFill>
              <a:srgbClr val="7C6B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92040" y="3931920"/>
            <a:ext cx="6656832" cy="914400"/>
          </a:xfrm>
          <a:prstGeom prst="roundRect">
            <a:avLst>
              <a:gd name="adj" fmla="val 9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20640" y="393192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MOTION 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Dot — senior operators run your GTM.  $4K–$30K / mo retainers.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4983480"/>
            <a:ext cx="6656832" cy="914400"/>
          </a:xfrm>
          <a:prstGeom prst="roundRect">
            <a:avLst>
              <a:gd name="adj" fmla="val 9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20640" y="49834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MOTION 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— an autonomous marketing coworker.  $499–$2,999 / mo, credit-based.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company, two motions.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3063240"/>
          </a:xfrm>
          <a:prstGeom prst="roundRect">
            <a:avLst>
              <a:gd name="adj" fmla="val 268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MOTION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Triple Dot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52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 – $30K / mo · flat retainer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8408" y="3364992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32826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operators own your plan and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8408" y="3877056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37947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· SEO/GEO · Content · RevOps · Creative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8408" y="4389120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43068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High-touch, high-ACV, ~15-month tenure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828800"/>
            <a:ext cx="5193792" cy="3063240"/>
          </a:xfrm>
          <a:prstGeom prst="roundRect">
            <a:avLst>
              <a:gd name="adj" fmla="val 2687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75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Slate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852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 – $2,999 / mo · credit-based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93408" y="3364992"/>
            <a:ext cx="109728" cy="109728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22008" y="32826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marketing coworker + control plane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93408" y="3877056"/>
            <a:ext cx="109728" cy="109728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22008" y="37947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landing, low CAC, annual contracts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93408" y="4389120"/>
            <a:ext cx="109728" cy="109728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22008" y="43068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linear headcount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08192" y="3108960"/>
            <a:ext cx="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lands customers cheaply → services expand the account. Today ~90% services / ~10% product — and we are flipping it.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SERVICES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business units. Full-funnel GTM.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1481328"/>
          </a:xfrm>
          <a:prstGeom prst="roundRect">
            <a:avLst>
              <a:gd name="adj" fmla="val 5556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Paid Media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95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revenue · ~70% GM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97480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social, ABM, review platforms. Google Premium Partner (top 3%).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93792" cy="1481328"/>
          </a:xfrm>
          <a:prstGeom prst="roundRect">
            <a:avLst>
              <a:gd name="adj" fmla="val 5556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01168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SEO / GEO &amp; Content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395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revenue · ~60% GM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97480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articles a year. GenAI + human editorial — the key margin driver.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193792" cy="1481328"/>
          </a:xfrm>
          <a:prstGeom prst="roundRect">
            <a:avLst>
              <a:gd name="adj" fmla="val 5556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2688" y="376732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Revenue &amp; Marketing Ops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1513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of revenue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453128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attribution, WebOps. Platinum HubSpot partner. Fastest-growing 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584448"/>
            <a:ext cx="5193792" cy="1481328"/>
          </a:xfrm>
          <a:prstGeom prst="roundRect">
            <a:avLst>
              <a:gd name="adj" fmla="val 5556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47688" y="376732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Creative Services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41513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revenue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4453128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pages, ad creative, brand systems — coupled to paid media.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10908792" cy="932688"/>
          </a:xfrm>
          <a:prstGeom prst="roundRect">
            <a:avLst>
              <a:gd name="adj" fmla="val 8824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5230368"/>
            <a:ext cx="10332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DELIVERY MODEL: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squads own accounts end-to-end. No account-manager layer. 85–90% utilization, no bench.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Revenue that compounds — and stays.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87452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874520"/>
            <a:ext cx="2788920" cy="1572768"/>
          </a:xfrm>
          <a:prstGeom prst="roundRect">
            <a:avLst>
              <a:gd name="adj" fmla="val 523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623560" y="2002536"/>
            <a:ext cx="26974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~94%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687568" y="2849636"/>
            <a:ext cx="2569464" cy="53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revenue retention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80" y="1874520"/>
            <a:ext cx="2788920" cy="1572768"/>
          </a:xfrm>
          <a:prstGeom prst="roundRect">
            <a:avLst>
              <a:gd name="adj" fmla="val 523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0" y="2002536"/>
            <a:ext cx="26974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15+ mo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750808" y="2849636"/>
            <a:ext cx="2569464" cy="53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client tenure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3721608"/>
            <a:ext cx="2788920" cy="1572768"/>
          </a:xfrm>
          <a:prstGeom prst="roundRect">
            <a:avLst>
              <a:gd name="adj" fmla="val 523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23560" y="3849624"/>
            <a:ext cx="26974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$400K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687568" y="4696724"/>
            <a:ext cx="2569464" cy="53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from expansion in one quarter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41080" y="3721608"/>
            <a:ext cx="2788920" cy="1572768"/>
          </a:xfrm>
          <a:prstGeom prst="roundRect">
            <a:avLst>
              <a:gd name="adj" fmla="val 523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686800" y="3849624"/>
            <a:ext cx="26974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750808" y="4696724"/>
            <a:ext cx="2569464" cy="53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the US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· SLATE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autonomous marketing coworker.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i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“Grow organic signups 40% this quarter.”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input. Then, without being asked again, Slate runs the loop: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877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862072"/>
            <a:ext cx="402336" cy="402336"/>
          </a:xfrm>
          <a:prstGeom prst="ellipse">
            <a:avLst/>
          </a:prstGeom>
          <a:solidFill>
            <a:srgbClr val="35D0A5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Watches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7216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pages, competitors, AI citations — around the clock.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34518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2606040"/>
            <a:ext cx="25877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862072"/>
            <a:ext cx="402336" cy="402336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8503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7216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goal and signals into concrete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25896" y="34518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606040"/>
            <a:ext cx="25877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2862072"/>
            <a:ext cx="402336" cy="402336"/>
          </a:xfrm>
          <a:prstGeom prst="ellipse">
            <a:avLst/>
          </a:prstGeom>
          <a:solidFill>
            <a:srgbClr val="35D0A5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7395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Executes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7216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its own work; assigns the rest to named people.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14816" y="34518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06840" y="2606040"/>
            <a:ext cx="25877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62872" y="2862072"/>
            <a:ext cx="402336" cy="402336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6287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33832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37216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every outcome back into memory for the next cycle.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PLANE, ANY AGENT ON TOP.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intelligence · governance · execution — wired into where marketing lives. The only tool you can give a goal and walk away from.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Early, annual, and accelerating.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56816"/>
            <a:ext cx="239572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$30K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79192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today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46704" y="182880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2424" y="1956816"/>
            <a:ext cx="239572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$45K+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679192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Booked, all annual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53328" y="182880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99048" y="1956816"/>
            <a:ext cx="239572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679192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59952" y="182880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05672" y="1956816"/>
            <a:ext cx="239572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20+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679192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POCs converting now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annual — no monthly churn to fight. Depth over logos: accounts using it daily.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15968"/>
            <a:ext cx="3502152" cy="1554480"/>
          </a:xfrm>
          <a:prstGeom prst="roundRect">
            <a:avLst>
              <a:gd name="adj" fmla="val 529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96112" y="45171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TODAY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882896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AI-search visibility &amp; off-site presence — where the models cite you.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46804" y="509320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4315968"/>
            <a:ext cx="3502152" cy="1554480"/>
          </a:xfrm>
          <a:prstGeom prst="roundRect">
            <a:avLst>
              <a:gd name="adj" fmla="val 529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99432" y="45171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4882896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marketing — same watchers, same memory, pointed at ad accounts.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50124" y="509320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46720" y="4315968"/>
            <a:ext cx="3502152" cy="1554480"/>
          </a:xfrm>
          <a:prstGeom prst="roundRect">
            <a:avLst>
              <a:gd name="adj" fmla="val 529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02752" y="45171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4882896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marketing in sequence: lifecycle, CRO, product marketing.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area reuses the memory, integrations and governance the last one earned — so each is cheaper than the one before.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TOGETHER COMPOUNDS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services engine makes the product win.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58568"/>
            <a:ext cx="457200" cy="457200"/>
          </a:xfrm>
          <a:prstGeom prst="ellipse">
            <a:avLst/>
          </a:prstGeom>
          <a:solidFill>
            <a:srgbClr val="35D0A5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03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3756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give Slate a warm channel of 250+ customers — low CAC, no cold SaaS sale.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6804" y="315468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196596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258568"/>
            <a:ext cx="457200" cy="457200"/>
          </a:xfrm>
          <a:prstGeom prst="ellipse">
            <a:avLst/>
          </a:prstGeom>
          <a:solidFill>
            <a:srgbClr val="7C6BFF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360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803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33756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across 500+ campaigns writes Slate's roadmap and its day-one defaults.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50124" y="315468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196596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258568"/>
            <a:ext cx="457200" cy="457200"/>
          </a:xfrm>
          <a:prstGeom prst="ellipse">
            <a:avLst/>
          </a:prstGeom>
          <a:solidFill>
            <a:srgbClr val="F5B84C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3932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8803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Margin &amp; stickiness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333756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lifts services margin and retention — clients check it weekly, creating new service triggers.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i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strong agency and an early tool.  </a:t>
            </a:r>
            <a:pPr indent="0" marL="0">
              <a:lnSpc>
                <a:spcPts val="2200"/>
              </a:lnSpc>
              <a:buNone/>
            </a:pPr>
            <a:r>
              <a:rPr lang="en-US" sz="1500" b="1" i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compounding machine: one funds and teaches the other.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$1.5B market — entered through a trigger.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9601200" cy="960120"/>
          </a:xfrm>
          <a:prstGeom prst="roundRect">
            <a:avLst>
              <a:gd name="adj" fmla="val 571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$1.5B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96596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qualified SaaS &amp; D2C companies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6583680" cy="960120"/>
          </a:xfrm>
          <a:prstGeom prst="roundRect">
            <a:avLst>
              <a:gd name="adj" fmla="val 571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3236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$100M–$280M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1089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~7,000 near-term prospects hitting a growth trigger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379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WEDGE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251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visibility report surfaces the problem → routes to services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&amp; high-growth D2C · $5M–$200M ARR · 50–500 employees · NA / UK / AU / APAC · $15K–$60K combined annual spend.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$6M to $15M in 18 months.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87452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96596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66560" y="2112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Mix flips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4688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~90/10 services-product today → product to ~20% of a much larger top line.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3264408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76656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Margin expands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76732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~40% today → 50%+ as product mix and agentic delivery compound.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0" y="4562856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665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Partner-accelerated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506577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plan reaches ~$10M; the right partner and capital get us to $15M.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Agentic delivery is the margin unlock.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2697480"/>
          </a:xfrm>
          <a:prstGeom prst="roundRect">
            <a:avLst>
              <a:gd name="adj" fmla="val 3051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Human-led &amp; tool-fragmented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94436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862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ops, reporting, onboarding are execution-heavy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45643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374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means adding headcount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96849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in silos, not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193792" cy="2697480"/>
          </a:xfrm>
          <a:prstGeom prst="roundRect">
            <a:avLst>
              <a:gd name="adj" fmla="val 3051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4768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Agentic scale &amp; margin leverage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75120" y="2944368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2862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as employees, mapped in the org chart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3456432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3374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grows sub-linear to revenue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968496"/>
            <a:ext cx="109728" cy="109728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move up to strategy, judgment, cross-sell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70448" y="3154680"/>
            <a:ext cx="411480" cy="0"/>
          </a:xfrm>
          <a:prstGeom prst="line">
            <a:avLst/>
          </a:prstGeom>
          <a:noFill/>
          <a:ln w="31750">
            <a:solidFill>
              <a:srgbClr val="35D0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47548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4882896"/>
            <a:ext cx="341071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50–60%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491886"/>
            <a:ext cx="328269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blended gross margin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47548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389120" y="4882896"/>
            <a:ext cx="341071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15–18%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5491886"/>
            <a:ext cx="328269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held as % of revenue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7548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092440" y="4882896"/>
            <a:ext cx="341071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Sub-linear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5491886"/>
            <a:ext cx="328269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vs. revenue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Operators who've held this together for a decade.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7510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Shiyam Sunder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4942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 — Sales, Growth, GTM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02996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197510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Kurian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224942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CPO — AI Platform &amp; Product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202996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78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197510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Sabari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759952" y="224942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Paid Media BU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83464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03580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298094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25526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SEO &amp; Content BU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283464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03580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456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298094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56632" y="325526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RevOps &amp; Finance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834640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3035808"/>
            <a:ext cx="384048" cy="384048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78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298094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759952" y="325526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Ops &amp; US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251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EX-FRESHWORKS · GOOGLE · HUBSPOT · CLARI · SPRINKLR · ZOHO · RAZORPAY · JASPER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66344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PARTNER, WHY NOW.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bootstrapped, &lt;10% attrition, profitable. We want a strategic partner with US capital, network and credibility to accelerate Slate — and to let founders take some chips off the table after five years. Modest secondary, real primary, aligned upside.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TripleDart × Slate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988552" y="6400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5B4BD6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36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strategic partner for the next chapter.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93976"/>
            <a:ext cx="3410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$50–60M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14777"/>
            <a:ext cx="3282696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enterprise value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2093976"/>
            <a:ext cx="3410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12.5–15×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3014777"/>
            <a:ext cx="3282696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multiple on Triple Dot (~$28–33M)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9659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16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92440" y="2093976"/>
            <a:ext cx="3410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6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$25–30M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3014777"/>
            <a:ext cx="3282696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for Slate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50792"/>
            <a:ext cx="146304" cy="146304"/>
          </a:xfrm>
          <a:prstGeom prst="ellipse">
            <a:avLst/>
          </a:prstGeom>
          <a:solidFill>
            <a:srgbClr val="35D0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5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secondary + primary. Founder liquidity after five years, with the team fully committed to the plan.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46304" cy="146304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primary 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Slate's product &amp; GTM, and US market expansion — the path from ~$10M standalone to $15M.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67528"/>
            <a:ext cx="146304" cy="146304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" y="52486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partner brings 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a US growth network, and the credibility to win upmarket, faster.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5D0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Let's build the AI-led GTM company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2026-08-26T13:50:11Z</dcterms:created>
  <dcterms:modified xsi:type="dcterms:W3CDTF">2026-08-26T13:50:11Z</dcterms:modified>
</cp:coreProperties>
</file>