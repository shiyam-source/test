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by service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5D0A5"/>
              </a:solidFill>
              <a:effectLst/>
            </c:spPr>
          </c:dPt>
          <c:dPt>
            <c:idx val="1"/>
            <c:bubble3D val="0"/>
            <c:spPr>
              <a:solidFill>
                <a:srgbClr val="7C6BFF"/>
              </a:solidFill>
              <a:effectLst/>
            </c:spPr>
          </c:dPt>
          <c:dPt>
            <c:idx val="2"/>
            <c:bubble3D val="0"/>
            <c:spPr>
              <a:solidFill>
                <a:srgbClr val="F5B84C"/>
              </a:solidFill>
              <a:effectLst/>
            </c:spPr>
          </c:dPt>
          <c:dPt>
            <c:idx val="3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SEO / Content</c:v>
                </c:pt>
                <c:pt idx="1">
                  <c:v>Paid Media</c:v>
                </c:pt>
                <c:pt idx="2">
                  <c:v>RevOps</c:v>
                </c:pt>
                <c:pt idx="3">
                  <c:v>Creative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40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5F7F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Services</c:v>
                </c:pt>
              </c:strCache>
            </c:strRef>
          </c:tx>
          <c:spPr>
            <a:solidFill>
              <a:srgbClr val="35D0A5"/>
            </a:solidFill>
            <a:effectLst/>
          </c:spPr>
          <c:invertIfNegative val="0"/>
          <c:dLbls>
            <c:numFmt formatCode="$0.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1117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</c:v>
                  </c:pt>
                  <c:pt idx="1">
                    <c:v>Month 18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5.4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(Slate)</c:v>
                </c:pt>
              </c:strCache>
            </c:strRef>
          </c:tx>
          <c:spPr>
            <a:solidFill>
              <a:srgbClr val="7C6BFF"/>
            </a:solidFill>
            <a:effectLst/>
          </c:spPr>
          <c:invertIfNegative val="0"/>
          <c:dLbls>
            <c:numFmt formatCode="$0.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1117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</c:v>
                  </c:pt>
                  <c:pt idx="1">
                    <c:v>Month 18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0.6</c:v>
                </c:pt>
                <c:pt idx="1">
                  <c:v>3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D1117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5F7F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F5F7F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category, not the companies. We are one company with a services engine and a software product — already $6M, profitable, real logos.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a bet — it's a business. Profitable, retained, marquee B2B logos, mostly US revenue.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AI-in-marketing argument is over. The gap now is a system that owns outcomes, not another assistant.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model to carry out of the room: one base, two motions, software margins on a services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DNA, two price points. Credits get them in; services scale them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flagship lines (Paid, SEO) plus two fast-scaling lines. Margins already strong and expanding as AI lowers content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94% monthly NRR, 15-month tenure, real expansion. Retention curve rises with account 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out there is an assistant. Slate is a colleague — it does the work unasked, for a team, and remembers what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 AI-search first, then expand function by function on the same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beat that justifies the premium multiple — the two are not additive, they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don't sell into a market, we trigger into it — a visibility gap is the wedge that opens both motions.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Services double to $12M; product goes from ~$0.6M to $3M. Then product accelerates and services becomes the stable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36→50% question answered: product mix + AI agents doing delivery labor + operating leverage on a lean, high-utilization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marketers who picked up AI, not engineers who picked up marketing — operators who know exactly where this work breaks.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number is on the table, said plainly. Secondary = staying power, not exit. Close with a data-room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852160" cy="5852160"/>
          </a:xfrm>
          <a:prstGeom prst="ellipse">
            <a:avLst/>
          </a:prstGeom>
          <a:solidFill>
            <a:srgbClr val="5B4BD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35D0A5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291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INVESTOR BRIEF · 2026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4884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AI-led GTM company.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918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company, two motions — a </a:t>
            </a:r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engine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 </a:t>
            </a:r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product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turning strategy into pipeline for B2B tech.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4709160"/>
            <a:ext cx="2487168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489204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$6M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458968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run-rate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6704" y="4709160"/>
            <a:ext cx="2487168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346704" y="489204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250+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346704" y="5458968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served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4709160"/>
            <a:ext cx="2487168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053328" y="489204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$150M+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6053328" y="5458968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managed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759952" y="4709160"/>
            <a:ext cx="2487168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59952" y="4892040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~94%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8759952" y="5458968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NRR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profitable GTM engine, already at scale.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operators who ran growth inside the best tech companies in the world. 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years in market, we are a GTM Operating System delivered as a service — senior operators and proprietary AI workflows in one system.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7939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 ·  CleverTap  ·  Glean  ·  Zuora  ·  Payoneer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ByteDance  ·  SentinelOne  ·  Ixigo  ·  Plivo  ·  Atlan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0" y="1874520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989320" y="2002536"/>
            <a:ext cx="25877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250+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053328" y="2639873"/>
            <a:ext cx="245973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served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860536" y="1874520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906256" y="2002536"/>
            <a:ext cx="25877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$150M+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970264" y="2639873"/>
            <a:ext cx="245973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ad spend managed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0" y="3310128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89320" y="3438144"/>
            <a:ext cx="25877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60+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4075481"/>
            <a:ext cx="245973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on the team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0536" y="3310128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06256" y="3438144"/>
            <a:ext cx="25877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~$6M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4075481"/>
            <a:ext cx="245973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run-rate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0" y="4745736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89320" y="4873752"/>
            <a:ext cx="25877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40%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6053328" y="5511089"/>
            <a:ext cx="245973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860536" y="4745736"/>
            <a:ext cx="2679192" cy="1234440"/>
          </a:xfrm>
          <a:prstGeom prst="roundRect">
            <a:avLst>
              <a:gd name="adj" fmla="val 666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906256" y="4873752"/>
            <a:ext cx="25877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&lt;10%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970264" y="5511089"/>
            <a:ext cx="245973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over 4 years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Every CMO got the same impossible math.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 </a:t>
            </a:r>
            <a:pPr indent="0" marL="0">
              <a:buNone/>
            </a:pPr>
            <a:r>
              <a:rPr lang="en-US" sz="2200" b="1" dirty="0">
                <a:solidFill>
                  <a:srgbClr val="F5B84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10×</a:t>
            </a:r>
            <a:pPr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more — with a smaller team.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84048" cy="384048"/>
          </a:xfrm>
          <a:prstGeom prst="ellipse">
            <a:avLst/>
          </a:prstGeom>
          <a:solidFill>
            <a:srgbClr val="7C6BFF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688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average marketing team is 40% smaller than in 2025.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384048" cy="384048"/>
          </a:xfrm>
          <a:prstGeom prst="ellipse">
            <a:avLst/>
          </a:prstGeom>
          <a:solidFill>
            <a:srgbClr val="7C6BFF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337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moved from headcount to tooling — and has not moved back.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4251960"/>
            <a:ext cx="384048" cy="384048"/>
          </a:xfrm>
          <a:prstGeom prst="ellipse">
            <a:avLst/>
          </a:prstGeom>
          <a:solidFill>
            <a:srgbClr val="7C6BFF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008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06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board deck now has an AI-efficiency slide.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92240" y="1783080"/>
            <a:ext cx="5029200" cy="4160520"/>
          </a:xfrm>
          <a:prstGeom prst="roundRect">
            <a:avLst>
              <a:gd name="adj" fmla="val 1978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812280" y="2011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old models both break.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858000" y="2770632"/>
            <a:ext cx="146304" cy="146304"/>
          </a:xfrm>
          <a:prstGeom prst="ellipse">
            <a:avLst/>
          </a:prstGeom>
          <a:solidFill>
            <a:srgbClr val="F5B84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0" y="26517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agencies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297180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arbitrage. No leverage, no defensibility, margin capped by headcount.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0" y="3849624"/>
            <a:ext cx="146304" cy="146304"/>
          </a:xfrm>
          <a:prstGeom prst="ellipse">
            <a:avLst/>
          </a:prstGeom>
          <a:solidFill>
            <a:srgbClr val="F5B84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0" y="37307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SaaS tools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40507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margins, but they own no outcome — adoption stalls, value is unproven.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0" y="4928616"/>
            <a:ext cx="146304" cy="146304"/>
          </a:xfrm>
          <a:prstGeom prst="ellipse">
            <a:avLst/>
          </a:prstGeom>
          <a:solidFill>
            <a:srgbClr val="35D0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32320" y="480974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5129784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outcome and the software doing the work. That is what we are building.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Services-market scale.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Software-margin economics.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26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AI-led services capture a market the size of services, at margins that trend toward software — run as one company, two motions, off one customer base.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3200400" cy="1828800"/>
          </a:xfrm>
          <a:prstGeom prst="roundRect">
            <a:avLst>
              <a:gd name="adj" fmla="val 4500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 BASE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800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tech · $5M–$200M ARR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86200" y="4663440"/>
            <a:ext cx="914400" cy="-320040"/>
          </a:xfrm>
          <a:prstGeom prst="line">
            <a:avLst/>
          </a:prstGeom>
          <a:noFill/>
          <a:ln w="31750">
            <a:solidFill>
              <a:srgbClr val="35D0A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886200" y="5074920"/>
            <a:ext cx="914400" cy="320040"/>
          </a:xfrm>
          <a:prstGeom prst="line">
            <a:avLst/>
          </a:prstGeom>
          <a:noFill/>
          <a:ln w="31750">
            <a:solidFill>
              <a:srgbClr val="7C6B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92040" y="3931920"/>
            <a:ext cx="6656832" cy="914400"/>
          </a:xfrm>
          <a:prstGeom prst="roundRect">
            <a:avLst>
              <a:gd name="adj" fmla="val 9000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120640" y="3931920"/>
            <a:ext cx="6263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MOTION 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— senior operators run your GTM.  $4K–$30K / mo retainers.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92040" y="4983480"/>
            <a:ext cx="6656832" cy="914400"/>
          </a:xfrm>
          <a:prstGeom prst="roundRect">
            <a:avLst>
              <a:gd name="adj" fmla="val 9000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120640" y="4983480"/>
            <a:ext cx="6263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MOTION 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— an autonomous marketing coworker.  $499–$2,999 / mo, credit-based.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One company, two motions.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93792" cy="3063240"/>
          </a:xfrm>
          <a:prstGeom prst="roundRect">
            <a:avLst>
              <a:gd name="adj" fmla="val 268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MOTION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TripleDart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529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$4K – $30K / mo · flat retainer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78408" y="3364992"/>
            <a:ext cx="109728" cy="109728"/>
          </a:xfrm>
          <a:prstGeom prst="ellipse">
            <a:avLst/>
          </a:prstGeom>
          <a:solidFill>
            <a:srgbClr val="35D0A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07008" y="328269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operators own your plan and results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78408" y="3877056"/>
            <a:ext cx="109728" cy="109728"/>
          </a:xfrm>
          <a:prstGeom prst="ellipse">
            <a:avLst/>
          </a:prstGeom>
          <a:solidFill>
            <a:srgbClr val="35D0A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07008" y="37947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Media · SEO/GEO · Content · RevOps · Creative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4389120"/>
            <a:ext cx="109728" cy="109728"/>
          </a:xfrm>
          <a:prstGeom prst="ellipse">
            <a:avLst/>
          </a:prstGeom>
          <a:solidFill>
            <a:srgbClr val="35D0A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07008" y="430682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High-touch, high-ACV, ~15-month tenure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1828800"/>
            <a:ext cx="5193792" cy="3063240"/>
          </a:xfrm>
          <a:prstGeom prst="roundRect">
            <a:avLst>
              <a:gd name="adj" fmla="val 2687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75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MOTION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23317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Slate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8529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$499 – $2,999 / mo · credit-based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93408" y="3364992"/>
            <a:ext cx="109728" cy="109728"/>
          </a:xfrm>
          <a:prstGeom prst="ellipse">
            <a:avLst/>
          </a:prstGeom>
          <a:solidFill>
            <a:srgbClr val="7C6B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22008" y="328269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marketing coworker + control plane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93408" y="3877056"/>
            <a:ext cx="109728" cy="109728"/>
          </a:xfrm>
          <a:prstGeom prst="ellipse">
            <a:avLst/>
          </a:prstGeom>
          <a:solidFill>
            <a:srgbClr val="7C6B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22008" y="37947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landing, low CAC, annual contracts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93408" y="4389120"/>
            <a:ext cx="109728" cy="109728"/>
          </a:xfrm>
          <a:prstGeom prst="ellipse">
            <a:avLst/>
          </a:prstGeom>
          <a:solidFill>
            <a:srgbClr val="7C6B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22008" y="430682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linear headcount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08192" y="3108960"/>
            <a:ext cx="0" cy="54864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40080" y="521208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14400" y="52120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5B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LAND-AND-EXPAND: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lands customers cheaply → services expand the account. Today ~90% services / ~10% product — and we are flipping it.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SERVICES ENGINE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Four business units. Full-funnel GTM.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93792" cy="1481328"/>
          </a:xfrm>
          <a:prstGeom prst="roundRect">
            <a:avLst>
              <a:gd name="adj" fmla="val 5556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32688" y="2011680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Paid Media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39572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~40% of revenue · ~70% GM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697480"/>
            <a:ext cx="4645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social, ABM, review platforms. Google Premium Partner (top 3%).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1828800"/>
            <a:ext cx="5193792" cy="1481328"/>
          </a:xfrm>
          <a:prstGeom prst="roundRect">
            <a:avLst>
              <a:gd name="adj" fmla="val 5556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47688" y="2011680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SEO / GEO &amp; Content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647688" y="2395728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~45% of revenue · ~60% GM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7688" y="2697480"/>
            <a:ext cx="4645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articles a year. GenAI + human editorial — the key margin driver.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84448"/>
            <a:ext cx="5193792" cy="1481328"/>
          </a:xfrm>
          <a:prstGeom prst="roundRect">
            <a:avLst>
              <a:gd name="adj" fmla="val 5556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32688" y="37673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Revenue &amp; Marketing Ops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4151376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 of revenue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4453128"/>
            <a:ext cx="4645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attribution, WebOps. Platinum HubSpot partner. Fastest-growing line.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3584448"/>
            <a:ext cx="5193792" cy="1481328"/>
          </a:xfrm>
          <a:prstGeom prst="roundRect">
            <a:avLst>
              <a:gd name="adj" fmla="val 5556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47688" y="37673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Creative Services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647688" y="4151376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~5% of revenue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4453128"/>
            <a:ext cx="4645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pages, ad creative, brand systems — coupled to paid media.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230368"/>
            <a:ext cx="10908792" cy="932688"/>
          </a:xfrm>
          <a:prstGeom prst="roundRect">
            <a:avLst>
              <a:gd name="adj" fmla="val 8824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14400" y="5230368"/>
            <a:ext cx="10332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DELIVERY MODEL: 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 squads own accounts end-to-end. No account-manager layer. 85–90% utilization, no bench.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Revenue that compounds — and stays.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4663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874520" y="3429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mix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577840" y="1874520"/>
            <a:ext cx="2788920" cy="1572768"/>
          </a:xfrm>
          <a:prstGeom prst="roundRect">
            <a:avLst>
              <a:gd name="adj" fmla="val 5233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623560" y="2002536"/>
            <a:ext cx="2697480" cy="865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~94%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687568" y="2849636"/>
            <a:ext cx="2569464" cy="534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revenue retention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1874520"/>
            <a:ext cx="2788920" cy="1572768"/>
          </a:xfrm>
          <a:prstGeom prst="roundRect">
            <a:avLst>
              <a:gd name="adj" fmla="val 5233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86800" y="2002536"/>
            <a:ext cx="2697480" cy="865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15+ mo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750808" y="2849636"/>
            <a:ext cx="2569464" cy="534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client tenure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77840" y="3721608"/>
            <a:ext cx="2788920" cy="1572768"/>
          </a:xfrm>
          <a:prstGeom prst="roundRect">
            <a:avLst>
              <a:gd name="adj" fmla="val 5233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623560" y="3849624"/>
            <a:ext cx="2697480" cy="865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$400K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687568" y="4696724"/>
            <a:ext cx="2569464" cy="534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from expansion in one quarter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641080" y="3721608"/>
            <a:ext cx="2788920" cy="1572768"/>
          </a:xfrm>
          <a:prstGeom prst="roundRect">
            <a:avLst>
              <a:gd name="adj" fmla="val 5233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686800" y="3849624"/>
            <a:ext cx="2697480" cy="8650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50%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4696724"/>
            <a:ext cx="2569464" cy="534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the US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· SLATE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autonomous marketing coworker.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i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“Grow organic signups 40% this quarter.”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entire input. Then, without being asked again, Slate runs the loop: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587752" cy="1691640"/>
          </a:xfrm>
          <a:prstGeom prst="roundRect">
            <a:avLst>
              <a:gd name="adj" fmla="val 48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862072"/>
            <a:ext cx="402336" cy="402336"/>
          </a:xfrm>
          <a:prstGeom prst="ellipse">
            <a:avLst/>
          </a:prstGeom>
          <a:solidFill>
            <a:srgbClr val="35D0A5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96112" y="2862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38328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Watches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721608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Rankings, pages, competitors, AI citations — around the clock.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36976" y="34518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29000" y="2606040"/>
            <a:ext cx="2587752" cy="1691640"/>
          </a:xfrm>
          <a:prstGeom prst="roundRect">
            <a:avLst>
              <a:gd name="adj" fmla="val 48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85032" y="2862072"/>
            <a:ext cx="402336" cy="402336"/>
          </a:xfrm>
          <a:prstGeom prst="ellipse">
            <a:avLst/>
          </a:prstGeom>
          <a:solidFill>
            <a:srgbClr val="7C6BFF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85032" y="2862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338328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Plans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685032" y="3721608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goal and signals into concrete tasks.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25896" y="34518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17920" y="2606040"/>
            <a:ext cx="2587752" cy="1691640"/>
          </a:xfrm>
          <a:prstGeom prst="roundRect">
            <a:avLst>
              <a:gd name="adj" fmla="val 48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73952" y="2862072"/>
            <a:ext cx="402336" cy="402336"/>
          </a:xfrm>
          <a:prstGeom prst="ellipse">
            <a:avLst/>
          </a:prstGeom>
          <a:solidFill>
            <a:srgbClr val="35D0A5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73952" y="2862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38328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Executes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3721608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its own work; assigns the rest to named people.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14816" y="34518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06840" y="2606040"/>
            <a:ext cx="2587752" cy="1691640"/>
          </a:xfrm>
          <a:prstGeom prst="roundRect">
            <a:avLst>
              <a:gd name="adj" fmla="val 48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62872" y="2862072"/>
            <a:ext cx="402336" cy="402336"/>
          </a:xfrm>
          <a:prstGeom prst="ellipse">
            <a:avLst/>
          </a:prstGeom>
          <a:solidFill>
            <a:srgbClr val="7C6BFF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62872" y="2862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38328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Learns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262872" y="3721608"/>
            <a:ext cx="2130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every outcome back into memory for the next cycle.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572000"/>
            <a:ext cx="10908792" cy="1051560"/>
          </a:xfrm>
          <a:prstGeom prst="roundRect">
            <a:avLst>
              <a:gd name="adj" fmla="val 7826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4400" y="45720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PLANE, ANY AGENT ON TOP.  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intelligence · governance · execution — wired into where marketing lives. The only tool you can give a goal and walk away from.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TRACTION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Early, annual, and accelerating.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487168" cy="1371600"/>
          </a:xfrm>
          <a:prstGeom prst="roundRect">
            <a:avLst>
              <a:gd name="adj" fmla="val 6000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956816"/>
            <a:ext cx="239572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$30K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679192"/>
            <a:ext cx="22677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 today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46704" y="1828800"/>
            <a:ext cx="2487168" cy="1371600"/>
          </a:xfrm>
          <a:prstGeom prst="roundRect">
            <a:avLst>
              <a:gd name="adj" fmla="val 6000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92424" y="1956816"/>
            <a:ext cx="239572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$45K+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2679192"/>
            <a:ext cx="22677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Booked, all annual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53328" y="1828800"/>
            <a:ext cx="2487168" cy="1371600"/>
          </a:xfrm>
          <a:prstGeom prst="roundRect">
            <a:avLst>
              <a:gd name="adj" fmla="val 6000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099048" y="1956816"/>
            <a:ext cx="239572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25+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163056" y="2679192"/>
            <a:ext cx="22677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customers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59952" y="1828800"/>
            <a:ext cx="2487168" cy="1371600"/>
          </a:xfrm>
          <a:prstGeom prst="roundRect">
            <a:avLst>
              <a:gd name="adj" fmla="val 6000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805672" y="1956816"/>
            <a:ext cx="239572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20+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679192"/>
            <a:ext cx="22677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POCs converting now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383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annual — no monthly churn to fight. Depth over logos: accounts using it daily.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315968"/>
            <a:ext cx="3502152" cy="1554480"/>
          </a:xfrm>
          <a:prstGeom prst="roundRect">
            <a:avLst>
              <a:gd name="adj" fmla="val 5294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96112" y="451713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TODAY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4882896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AI-search visibility &amp; off-site presence — where the models cite you.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146804" y="5093208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43400" y="4315968"/>
            <a:ext cx="3502152" cy="1554480"/>
          </a:xfrm>
          <a:prstGeom prst="roundRect">
            <a:avLst>
              <a:gd name="adj" fmla="val 5294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599432" y="451713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99432" y="4882896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marketing — same watchers, same memory, pointed at ad accounts.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850124" y="5093208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046720" y="4315968"/>
            <a:ext cx="3502152" cy="1554480"/>
          </a:xfrm>
          <a:prstGeom prst="roundRect">
            <a:avLst>
              <a:gd name="adj" fmla="val 5294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302752" y="4517136"/>
            <a:ext cx="3044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302752" y="4882896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marketing in sequence: lifecycle, CRO, product marketing.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area reuses the memory, integrations and governance the last one earned — so each is cheaper than the one before.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TOGETHER COMPOUNDS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services engine makes the product win.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258568"/>
            <a:ext cx="457200" cy="457200"/>
          </a:xfrm>
          <a:prstGeom prst="ellipse">
            <a:avLst/>
          </a:prstGeom>
          <a:solidFill>
            <a:srgbClr val="35D0A5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268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880360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Distribution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33756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give Slate a warm channel of 250+ customers — low CAC, no cold SaaS sale.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46804" y="315468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43400" y="196596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008" y="2258568"/>
            <a:ext cx="457200" cy="457200"/>
          </a:xfrm>
          <a:prstGeom prst="ellipse">
            <a:avLst/>
          </a:prstGeom>
          <a:solidFill>
            <a:srgbClr val="7C6BFF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3600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2880360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36008" y="333756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across 500+ campaigns writes Slate's roadmap and its day-one defaults.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850124" y="315468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46720" y="196596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39328" y="2258568"/>
            <a:ext cx="457200" cy="457200"/>
          </a:xfrm>
          <a:prstGeom prst="ellipse">
            <a:avLst/>
          </a:prstGeom>
          <a:solidFill>
            <a:srgbClr val="F5B84C"/>
          </a:solidFill>
          <a:ln/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339328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39328" y="2880360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Margin &amp; stickiness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333756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lifts services margin and retention — clients check it weekly, creating new service triggers.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08792" cy="1051560"/>
          </a:xfrm>
          <a:prstGeom prst="roundRect">
            <a:avLst>
              <a:gd name="adj" fmla="val 7826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14400" y="470916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i="1" dirty="0">
                <a:solidFill>
                  <a:srgbClr val="F5B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strong agency and an early tool.  </a:t>
            </a:r>
            <a:pPr indent="0" marL="0">
              <a:lnSpc>
                <a:spcPts val="2200"/>
              </a:lnSpc>
              <a:buNone/>
            </a:pPr>
            <a:r>
              <a:rPr lang="en-US" sz="1500" b="1" i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compounding machine: one funds and teaches the other.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$1.5B market — entered through a trigger.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9601200" cy="960120"/>
          </a:xfrm>
          <a:prstGeom prst="roundRect">
            <a:avLst>
              <a:gd name="adj" fmla="val 5714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0939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31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$1.5B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3931920" y="1965960"/>
            <a:ext cx="6126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~20,000–25,000 qualified SaaS &amp; D2C companies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6583680" cy="960120"/>
          </a:xfrm>
          <a:prstGeom prst="roundRect">
            <a:avLst>
              <a:gd name="adj" fmla="val 5714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32369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474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$100M–$280M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31089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~7,000 near-term prospects hitting a growth trigger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3657600" cy="960120"/>
          </a:xfrm>
          <a:prstGeom prst="roundRect">
            <a:avLst>
              <a:gd name="adj" fmla="val 5714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3799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WEDGE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617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Slate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42519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visibility report surfaces the problem → routes to services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9474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54864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CUSTOMER: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 &amp; high-growth D2C · $5M–$200M ARR · 50–500 employees · NA / UK / AU / APAC · $15K–$60K combined annual spend.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From $6M to $15M in 18 months.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874520"/>
          <a:ext cx="59436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965960"/>
            <a:ext cx="5029200" cy="1170432"/>
          </a:xfrm>
          <a:prstGeom prst="roundRect">
            <a:avLst>
              <a:gd name="adj" fmla="val 7031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766560" y="211226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Mix flips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766560" y="2468880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~90/10 services-product today → product to ~20% of a much larger top line.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3264408"/>
            <a:ext cx="5029200" cy="1170432"/>
          </a:xfrm>
          <a:prstGeom prst="roundRect">
            <a:avLst>
              <a:gd name="adj" fmla="val 7031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766560" y="3410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Margin expands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767328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~40% today → 50%+ as product mix and agentic delivery compound.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92240" y="4562856"/>
            <a:ext cx="5029200" cy="1170432"/>
          </a:xfrm>
          <a:prstGeom prst="roundRect">
            <a:avLst>
              <a:gd name="adj" fmla="val 7031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766560" y="4709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B84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Partner-accelerated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0" y="5065776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plan reaches ~$10M; the right partner and capital get us to $15M.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ENGINE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Agentic delivery is the margin unlock.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93792" cy="2697480"/>
          </a:xfrm>
          <a:prstGeom prst="roundRect">
            <a:avLst>
              <a:gd name="adj" fmla="val 3051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32688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Human-led &amp; tool-fragmented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44368"/>
            <a:ext cx="109728" cy="109728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28620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ops, reporting, onboarding are execution-heavy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456432"/>
            <a:ext cx="109728" cy="109728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33741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means adding headcount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968496"/>
            <a:ext cx="109728" cy="109728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88720" y="3886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used in silos, not integrated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55080" y="1828800"/>
            <a:ext cx="5193792" cy="2697480"/>
          </a:xfrm>
          <a:prstGeom prst="roundRect">
            <a:avLst>
              <a:gd name="adj" fmla="val 3051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647688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2026–2027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7688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Agentic scale &amp; margin leverage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2944368"/>
            <a:ext cx="109728" cy="109728"/>
          </a:xfrm>
          <a:prstGeom prst="ellipse">
            <a:avLst/>
          </a:prstGeom>
          <a:solidFill>
            <a:srgbClr val="35D0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03720" y="28620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as employees, mapped in the org chart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75120" y="3456432"/>
            <a:ext cx="109728" cy="109728"/>
          </a:xfrm>
          <a:prstGeom prst="ellipse">
            <a:avLst/>
          </a:prstGeom>
          <a:solidFill>
            <a:srgbClr val="35D0A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03720" y="33741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 grows sub-linear to revenue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75120" y="3968496"/>
            <a:ext cx="109728" cy="109728"/>
          </a:xfrm>
          <a:prstGeom prst="ellipse">
            <a:avLst/>
          </a:prstGeom>
          <a:solidFill>
            <a:srgbClr val="35D0A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03720" y="3886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move up to strategy, judgment, cross-sell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870448" y="3154680"/>
            <a:ext cx="411480" cy="0"/>
          </a:xfrm>
          <a:prstGeom prst="line">
            <a:avLst/>
          </a:prstGeom>
          <a:noFill/>
          <a:ln w="31750">
            <a:solidFill>
              <a:srgbClr val="35D0A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" y="4754880"/>
            <a:ext cx="3502152" cy="1188720"/>
          </a:xfrm>
          <a:prstGeom prst="roundRect">
            <a:avLst>
              <a:gd name="adj" fmla="val 6923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85800" y="4882896"/>
            <a:ext cx="341071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50–60%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491886"/>
            <a:ext cx="328269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blended gross margin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43400" y="4754880"/>
            <a:ext cx="3502152" cy="1188720"/>
          </a:xfrm>
          <a:prstGeom prst="roundRect">
            <a:avLst>
              <a:gd name="adj" fmla="val 6923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389120" y="4882896"/>
            <a:ext cx="341071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15–18%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4453128" y="5491886"/>
            <a:ext cx="328269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SG&amp;A held as % of revenue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4754880"/>
            <a:ext cx="3502152" cy="1188720"/>
          </a:xfrm>
          <a:prstGeom prst="roundRect">
            <a:avLst>
              <a:gd name="adj" fmla="val 6923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092440" y="4882896"/>
            <a:ext cx="341071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Sub-linear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8156448" y="5491886"/>
            <a:ext cx="3282696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 vs. revenue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Operators who've held this together for a decade.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02152" cy="786384"/>
          </a:xfrm>
          <a:prstGeom prst="roundRect">
            <a:avLst>
              <a:gd name="adj" fmla="val 104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29968"/>
            <a:ext cx="384048" cy="384048"/>
          </a:xfrm>
          <a:prstGeom prst="ellipse">
            <a:avLst/>
          </a:prstGeom>
          <a:solidFill>
            <a:srgbClr val="5B4BD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97510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Shiyam Sunder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24942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CEO — Sales, Growth, GTM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02152" cy="786384"/>
          </a:xfrm>
          <a:prstGeom prst="roundRect">
            <a:avLst>
              <a:gd name="adj" fmla="val 104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44568" y="2029968"/>
            <a:ext cx="384048" cy="384048"/>
          </a:xfrm>
          <a:prstGeom prst="ellipse">
            <a:avLst/>
          </a:prstGeom>
          <a:solidFill>
            <a:srgbClr val="5B4B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4456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197510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Kurian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56632" y="224942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CPO — AI Platform &amp; Product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02152" cy="786384"/>
          </a:xfrm>
          <a:prstGeom prst="roundRect">
            <a:avLst>
              <a:gd name="adj" fmla="val 104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47888" y="2029968"/>
            <a:ext cx="384048" cy="384048"/>
          </a:xfrm>
          <a:prstGeom prst="ellipse">
            <a:avLst/>
          </a:prstGeom>
          <a:solidFill>
            <a:srgbClr val="5B4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47888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59952" y="197510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Sabari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759952" y="224942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Paid Media BU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834640"/>
            <a:ext cx="3502152" cy="786384"/>
          </a:xfrm>
          <a:prstGeom prst="roundRect">
            <a:avLst>
              <a:gd name="adj" fmla="val 104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3035808"/>
            <a:ext cx="384048" cy="384048"/>
          </a:xfrm>
          <a:prstGeom prst="ellipse">
            <a:avLst/>
          </a:prstGeom>
          <a:solidFill>
            <a:srgbClr val="5B4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298094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Manoj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353312" y="325526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SEO &amp; Content BU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2834640"/>
            <a:ext cx="3502152" cy="786384"/>
          </a:xfrm>
          <a:prstGeom prst="roundRect">
            <a:avLst>
              <a:gd name="adj" fmla="val 104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44568" y="3035808"/>
            <a:ext cx="384048" cy="384048"/>
          </a:xfrm>
          <a:prstGeom prst="ellipse">
            <a:avLst/>
          </a:prstGeom>
          <a:solidFill>
            <a:srgbClr val="5B4B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4568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56632" y="298094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JK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056632" y="325526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RevOps &amp; Finance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2834640"/>
            <a:ext cx="3502152" cy="786384"/>
          </a:xfrm>
          <a:prstGeom prst="roundRect">
            <a:avLst>
              <a:gd name="adj" fmla="val 104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47888" y="3035808"/>
            <a:ext cx="384048" cy="384048"/>
          </a:xfrm>
          <a:prstGeom prst="ellipse">
            <a:avLst/>
          </a:prstGeom>
          <a:solidFill>
            <a:srgbClr val="5B4BD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47888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59952" y="298094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759952" y="3255264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— Ops &amp; US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251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EX-FRESHWORKS · GOOGLE · HUBSPOT · CLARI · SPRINKLR · ZOHO · RAZORPAY · JASPER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466344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E2740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14400" y="46634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PARTNER, WHY NOW. 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years bootstrapped, &lt;10% attrition, profitable. We want a strategic partner with US capital, network and credibility to accelerate Slate — and to let founders take some chips off the table after five years. Modest secondary, real primary, aligned upside.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TripleDart × Slate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988552" y="6400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4008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5B4BD6">
              <a:alpha val="2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868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5F7F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strategic partner for the next chapter.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093976"/>
            <a:ext cx="3410712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B84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$50–60M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014777"/>
            <a:ext cx="3282696" cy="575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enterprise value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0" y="2093976"/>
            <a:ext cx="3410712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12.5–15×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453128" y="3014777"/>
            <a:ext cx="3282696" cy="575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multiple on TripleDart (~$28–33M)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046720" y="19659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161E2E"/>
          </a:solidFill>
          <a:ln w="12700">
            <a:solidFill>
              <a:srgbClr val="2A3450"/>
            </a:solidFill>
            <a:prstDash val="solid"/>
          </a:ln>
          <a:effectLst>
            <a:outerShdw sx="100000" sy="100000" kx="0" ky="0" algn="bl" rotWithShape="0" blurRad="152400" dist="635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92440" y="2093976"/>
            <a:ext cx="3410712" cy="930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6B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$25–30M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3014777"/>
            <a:ext cx="3282696" cy="575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for Slate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4050792"/>
            <a:ext cx="146304" cy="146304"/>
          </a:xfrm>
          <a:prstGeom prst="ellipse">
            <a:avLst/>
          </a:prstGeom>
          <a:solidFill>
            <a:srgbClr val="35D0A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2688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35D0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30–40% secondary + primary. Founder liquidity after five years, with the team fully committed to the plan.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9160"/>
            <a:ext cx="146304" cy="146304"/>
          </a:xfrm>
          <a:prstGeom prst="ellipse">
            <a:avLst/>
          </a:prstGeom>
          <a:solidFill>
            <a:srgbClr val="7C6B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7C6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primary 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Slate's product &amp; GTM, and US market expansion — the path from ~$10M standalone to $15M.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5367528"/>
            <a:ext cx="146304" cy="146304"/>
          </a:xfrm>
          <a:prstGeom prst="ellipse">
            <a:avLst/>
          </a:prstGeom>
          <a:solidFill>
            <a:srgbClr val="F5B84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32688" y="524865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5B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partner brings  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Capital, a US growth network, and the credibility to win upmarket, faster.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35D0A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Let's build the AI-led GTM company together.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2026-08-26T13:51:57Z</dcterms:created>
  <dcterms:modified xsi:type="dcterms:W3CDTF">2026-08-26T13:51:57Z</dcterms:modified>
</cp:coreProperties>
</file>